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dPt>
            <c:idx val="0"/>
            <c:spPr>
              <a:solidFill>
                <a:srgbClr val="E8B4C3"/>
              </a:solidFill>
            </c:spPr>
          </c:dPt>
          <c:dPt>
            <c:idx val="1"/>
            <c:spPr>
              <a:solidFill>
                <a:srgbClr val="E8B4C3"/>
              </a:solidFill>
            </c:spPr>
          </c:dPt>
          <c:dPt>
            <c:idx val="2"/>
            <c:spPr>
              <a:solidFill>
                <a:srgbClr val="E8B4C3"/>
              </a:solidFill>
            </c:spPr>
          </c:dPt>
          <c:dPt>
            <c:idx val="3"/>
            <c:spPr>
              <a:solidFill>
                <a:srgbClr val="7A1F3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23161B"/>
                        </a:solidFill>
                        <a:latin typeface="Montserrat"/>
                      </a:rPr>
                      <a:t>65.0%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23161B"/>
                        </a:solidFill>
                        <a:latin typeface="Montserrat"/>
                      </a:rPr>
                      <a:t>70.8%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23161B"/>
                        </a:solidFill>
                        <a:latin typeface="Montserrat"/>
                      </a:rPr>
                      <a:t>79.2%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23161B"/>
                        </a:solidFill>
                        <a:latin typeface="Montserrat"/>
                      </a:rPr>
                      <a:t>86.7%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First version</c:v>
                </c:pt>
                <c:pt idx="1">
                  <c:v>Retrained</c:v>
                </c:pt>
                <c:pt idx="2">
                  <c:v>+ refusal screen</c:v>
                </c:pt>
                <c:pt idx="3">
                  <c:v>+ second opinion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65.0</c:v>
                </c:pt>
                <c:pt idx="1">
                  <c:v>70.8</c:v>
                </c:pt>
                <c:pt idx="2">
                  <c:v>79.2</c:v>
                </c:pt>
                <c:pt idx="3">
                  <c:v>86.7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FE3E7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6E5A62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5669280" cy="5669280"/>
          </a:xfrm>
          <a:prstGeom prst="ellipse">
            <a:avLst/>
          </a:prstGeom>
          <a:solidFill>
            <a:srgbClr val="4A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3291840"/>
            <a:ext cx="4023360" cy="402336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icebank-mark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31520"/>
            <a:ext cx="822960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91640" y="932688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ontserrat"/>
              </a:rPr>
              <a:t>NiceBank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8B4C3"/>
                </a:solidFill>
                <a:latin typeface="Montserrat"/>
              </a:rPr>
              <a:t>NICEBANK DISPUTE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82296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4200" b="1">
                <a:solidFill>
                  <a:srgbClr val="FFFFFF"/>
                </a:solidFill>
                <a:latin typeface="Montserrat"/>
              </a:rPr>
              <a:t>Card disputes solved in a minute, not in 15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749807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E8B4C3"/>
                </a:solidFill>
                <a:latin typeface="Montserrat"/>
              </a:rPr>
              <a:t>An AI assistant that finds the exact charge, explains it or opens the dispute, and hands specialists only the cases that need them.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5852160" cy="457200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Spanish &amp; Portuguese  ·  Mexico  ·  Colombia  ·  Argentina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8B4C3"/>
                </a:solidFill>
                <a:latin typeface="Montserrat"/>
              </a:rPr>
              <a:t>Factored AI &amp; Data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icebank-mark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5328" y="347472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393192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A1F3D"/>
                </a:solidFill>
                <a:latin typeface="Montserrat"/>
              </a:rPr>
              <a:t>NiceBank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7A1F3D"/>
                </a:solidFill>
                <a:latin typeface="Montserrat"/>
              </a:rPr>
              <a:t>THE CUSTOMER'S PAIN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23161B"/>
                </a:solidFill>
                <a:latin typeface="Montserrat"/>
              </a:rPr>
              <a:t>"I don't recognize this charge": a 15-day wait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5A62"/>
                </a:solidFill>
                <a:latin typeface="Montserrat"/>
              </a:rPr>
              <a:t>Factored AI &amp; Data Hackathon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4190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7A1F3D"/>
                </a:solidFill>
                <a:latin typeface="Montserrat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5120640" cy="4251960"/>
          </a:xfrm>
          <a:prstGeom prst="roundRect">
            <a:avLst>
              <a:gd name="adj" fmla="val 3655"/>
            </a:avLst>
          </a:prstGeom>
          <a:solidFill>
            <a:srgbClr val="FFFFFF"/>
          </a:solidFill>
          <a:ln w="12700">
            <a:solidFill>
              <a:srgbClr val="EF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92024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3161B"/>
                </a:solidFill>
                <a:latin typeface="Montserrat"/>
              </a:rPr>
              <a:t>Today, for María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2560320"/>
            <a:ext cx="384048" cy="384048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33856" y="2944368"/>
            <a:ext cx="36576" cy="713232"/>
          </a:xfrm>
          <a:prstGeom prst="rect">
            <a:avLst/>
          </a:prstGeom>
          <a:solidFill>
            <a:srgbClr val="E8B4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2542032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A1F3D"/>
                </a:solidFill>
                <a:latin typeface="Montserrat"/>
              </a:rPr>
              <a:t>Day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834639"/>
            <a:ext cx="3931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E5A62"/>
                </a:solidFill>
                <a:latin typeface="Montserrat"/>
              </a:rPr>
              <a:t>Sees a strange charge and calls the bank, worried.</a:t>
            </a:r>
          </a:p>
        </p:txBody>
      </p:sp>
      <p:sp>
        <p:nvSpPr>
          <p:cNvPr id="15" name="Oval 14"/>
          <p:cNvSpPr/>
          <p:nvPr/>
        </p:nvSpPr>
        <p:spPr>
          <a:xfrm>
            <a:off x="960120" y="3657600"/>
            <a:ext cx="384048" cy="384048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33856" y="4041648"/>
            <a:ext cx="36576" cy="713232"/>
          </a:xfrm>
          <a:prstGeom prst="rect">
            <a:avLst/>
          </a:prstGeom>
          <a:solidFill>
            <a:srgbClr val="E8B4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0" y="3639312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A1F3D"/>
                </a:solidFill>
                <a:latin typeface="Montserrat"/>
              </a:rPr>
              <a:t>Day 2–10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931920"/>
            <a:ext cx="3931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E5A62"/>
                </a:solidFill>
                <a:latin typeface="Montserrat"/>
              </a:rPr>
              <a:t>Explains it again to a second person; nobody can find it.</a:t>
            </a:r>
          </a:p>
        </p:txBody>
      </p:sp>
      <p:sp>
        <p:nvSpPr>
          <p:cNvPr id="19" name="Oval 18"/>
          <p:cNvSpPr/>
          <p:nvPr/>
        </p:nvSpPr>
        <p:spPr>
          <a:xfrm>
            <a:off x="960120" y="4754879"/>
            <a:ext cx="384048" cy="384048"/>
          </a:xfrm>
          <a:prstGeom prst="ellipse">
            <a:avLst/>
          </a:prstGeom>
          <a:solidFill>
            <a:srgbClr val="E8B4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0" y="4736592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A1F3D"/>
                </a:solidFill>
                <a:latin typeface="Montserrat"/>
              </a:rPr>
              <a:t>Day 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029199"/>
            <a:ext cx="3931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E5A62"/>
                </a:solidFill>
                <a:latin typeface="Montserrat"/>
              </a:rPr>
              <a:t>Gets an answer, if her case did not miss the deadline.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0" y="1737360"/>
            <a:ext cx="2651760" cy="1920240"/>
          </a:xfrm>
          <a:prstGeom prst="roundRect">
            <a:avLst>
              <a:gd name="adj" fmla="val 8095"/>
            </a:avLst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196596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ontserrat"/>
              </a:rPr>
              <a:t>40%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74320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F8EEF1"/>
                </a:solidFill>
                <a:latin typeface="Montserrat"/>
              </a:rPr>
              <a:t>of all complaints are card-charge disputes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23959" y="1737360"/>
            <a:ext cx="2651760" cy="1920240"/>
          </a:xfrm>
          <a:prstGeom prst="roundRect">
            <a:avLst>
              <a:gd name="adj" fmla="val 8095"/>
            </a:avLst>
          </a:prstGeom>
          <a:solidFill>
            <a:srgbClr val="FFFFFF"/>
          </a:solidFill>
          <a:ln w="12700">
            <a:solidFill>
              <a:srgbClr val="EF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59" y="196596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7A1F3D"/>
                </a:solidFill>
                <a:latin typeface="Montserrat"/>
              </a:rPr>
              <a:t>~15 days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59" y="274320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6E5A62"/>
                </a:solidFill>
                <a:latin typeface="Montserrat"/>
              </a:rPr>
              <a:t>to resolve each one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35040" y="3840479"/>
            <a:ext cx="2651760" cy="1920240"/>
          </a:xfrm>
          <a:prstGeom prst="roundRect">
            <a:avLst>
              <a:gd name="adj" fmla="val 8095"/>
            </a:avLst>
          </a:prstGeom>
          <a:solidFill>
            <a:srgbClr val="FFFFFF"/>
          </a:solidFill>
          <a:ln w="12700">
            <a:solidFill>
              <a:srgbClr val="EF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4069079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7A1F3D"/>
                </a:solidFill>
                <a:latin typeface="Montserrat"/>
              </a:rPr>
              <a:t>75%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4846319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6E5A62"/>
                </a:solidFill>
                <a:latin typeface="Montserrat"/>
              </a:rPr>
              <a:t>of those complaints are still open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23959" y="3840479"/>
            <a:ext cx="2651760" cy="1920240"/>
          </a:xfrm>
          <a:prstGeom prst="roundRect">
            <a:avLst>
              <a:gd name="adj" fmla="val 8095"/>
            </a:avLst>
          </a:prstGeom>
          <a:solidFill>
            <a:srgbClr val="FFFFFF"/>
          </a:solidFill>
          <a:ln w="12700">
            <a:solidFill>
              <a:srgbClr val="EF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59" y="4069079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7A1F3D"/>
                </a:solidFill>
                <a:latin typeface="Montserrat"/>
              </a:rPr>
              <a:t>3.1 /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59" y="4846319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6E5A62"/>
                </a:solidFill>
                <a:latin typeface="Montserrat"/>
              </a:rPr>
              <a:t>customer satisfaction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5989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E5A62"/>
                </a:solidFill>
                <a:latin typeface="Montserrat"/>
              </a:rPr>
              <a:t>Source: organizer dataset, 27,133 dispute complaints in three years.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icebank-mark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5328" y="347472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393192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A1F3D"/>
                </a:solidFill>
                <a:latin typeface="Montserrat"/>
              </a:rPr>
              <a:t>NiceBank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7A1F3D"/>
                </a:solidFill>
                <a:latin typeface="Montserrat"/>
              </a:rPr>
              <a:t>THE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23161B"/>
                </a:solidFill>
                <a:latin typeface="Montserrat"/>
              </a:rPr>
              <a:t>María writes it the way she'd say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5A62"/>
                </a:solidFill>
                <a:latin typeface="Montserrat"/>
              </a:rPr>
              <a:t>Factored AI &amp; Data Hackathon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4190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7A1F3D"/>
                </a:solidFill>
                <a:latin typeface="Montserrat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5486400" cy="4526280"/>
          </a:xfrm>
          <a:prstGeom prst="roundRect">
            <a:avLst>
              <a:gd name="adj" fmla="val 3434"/>
            </a:avLst>
          </a:prstGeom>
          <a:solidFill>
            <a:srgbClr val="F8EEF1"/>
          </a:solidFill>
          <a:ln w="12700">
            <a:solidFill>
              <a:srgbClr val="E8B4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057400" y="1965960"/>
            <a:ext cx="3840480" cy="658368"/>
          </a:xfrm>
          <a:prstGeom prst="roundRect">
            <a:avLst>
              <a:gd name="adj" fmla="val 23611"/>
            </a:avLst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58568" y="1965960"/>
            <a:ext cx="34747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ontserrat"/>
              </a:rPr>
              <a:t>No reconozco un cobro de 385,71 de hoy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825496"/>
            <a:ext cx="4480560" cy="1097280"/>
          </a:xfrm>
          <a:prstGeom prst="roundRect">
            <a:avLst>
              <a:gd name="adj" fmla="val 14166"/>
            </a:avLst>
          </a:prstGeom>
          <a:solidFill>
            <a:srgbClr val="FFFFFF"/>
          </a:solidFill>
          <a:ln w="12700">
            <a:solidFill>
              <a:srgbClr val="EF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2825496"/>
            <a:ext cx="41148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23161B"/>
                </a:solidFill>
                <a:latin typeface="Montserrat"/>
              </a:rPr>
              <a:t>Encontré el cargo de 385,71 USD en Streaming Music del 17 de junio con tu tarjeta terminada en 2457. ¿Confirmas que abra una disputa por "Cargo no reconocido"?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6818" y="4123944"/>
            <a:ext cx="1581061" cy="438912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986" y="4123944"/>
            <a:ext cx="1215301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ontserrat"/>
              </a:rPr>
              <a:t>✓ Confirmar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764024"/>
            <a:ext cx="4480560" cy="877824"/>
          </a:xfrm>
          <a:prstGeom prst="roundRect">
            <a:avLst>
              <a:gd name="adj" fmla="val 17708"/>
            </a:avLst>
          </a:prstGeom>
          <a:solidFill>
            <a:srgbClr val="FFFFFF"/>
          </a:solidFill>
          <a:ln w="12700">
            <a:solidFill>
              <a:srgbClr val="EF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4764024"/>
            <a:ext cx="4114800" cy="877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23161B"/>
                </a:solidFill>
                <a:latin typeface="Montserrat"/>
              </a:rPr>
              <a:t>Listo: abrí la disputa DSP-001048 por el cargo de 385,71 USD en Streaming Music. Verifiqué que el caso quedó registrado.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89788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E5A62"/>
                </a:solidFill>
                <a:latin typeface="Montserrat"/>
              </a:rPr>
              <a:t>Real conversation from our demo (the product speaks Spanish and Portuguese)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3161B"/>
                </a:solidFill>
                <a:latin typeface="Montserrat"/>
              </a:rPr>
              <a:t>Three outcomes, about a minute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2331720"/>
            <a:ext cx="5074920" cy="1188720"/>
          </a:xfrm>
          <a:prstGeom prst="roundRect">
            <a:avLst>
              <a:gd name="adj" fmla="val 13076"/>
            </a:avLst>
          </a:prstGeom>
          <a:solidFill>
            <a:srgbClr val="FFFFFF"/>
          </a:solidFill>
          <a:ln w="12700">
            <a:solidFill>
              <a:srgbClr val="EF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720840" y="2606039"/>
            <a:ext cx="457200" cy="4572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2606039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2496312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3161B"/>
                </a:solidFill>
                <a:latin typeface="Montserrat"/>
              </a:rPr>
              <a:t>Dispute opened and verified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2834639"/>
            <a:ext cx="4023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6E5A62"/>
                </a:solidFill>
                <a:latin typeface="Montserrat"/>
              </a:rPr>
              <a:t>Found in her own history and confirmed before anything is done.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3657600"/>
            <a:ext cx="5074920" cy="1188720"/>
          </a:xfrm>
          <a:prstGeom prst="roundRect">
            <a:avLst>
              <a:gd name="adj" fmla="val 13076"/>
            </a:avLst>
          </a:prstGeom>
          <a:solidFill>
            <a:srgbClr val="FFFFFF"/>
          </a:solidFill>
          <a:ln w="12700">
            <a:solidFill>
              <a:srgbClr val="EF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20840" y="3931920"/>
            <a:ext cx="457200" cy="4572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39319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3822191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3161B"/>
                </a:solidFill>
                <a:latin typeface="Montserrat"/>
              </a:rPr>
              <a:t>Explained, no dispute needed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4160520"/>
            <a:ext cx="4023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6E5A62"/>
                </a:solidFill>
                <a:latin typeface="Montserrat"/>
              </a:rPr>
              <a:t>8% of card purchases are pending, declined or already reversed: it says so with the real movement.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92240" y="4983479"/>
            <a:ext cx="5074920" cy="1188720"/>
          </a:xfrm>
          <a:prstGeom prst="roundRect">
            <a:avLst>
              <a:gd name="adj" fmla="val 13076"/>
            </a:avLst>
          </a:prstGeom>
          <a:solidFill>
            <a:srgbClr val="FFFFFF"/>
          </a:solidFill>
          <a:ln w="12700">
            <a:solidFill>
              <a:srgbClr val="EF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720840" y="5257799"/>
            <a:ext cx="457200" cy="4572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40" y="5257799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5148071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3161B"/>
                </a:solidFill>
                <a:latin typeface="Montserrat"/>
              </a:rPr>
              <a:t>A specialist with the full case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5486399"/>
            <a:ext cx="4023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6E5A62"/>
                </a:solidFill>
                <a:latin typeface="Montserrat"/>
              </a:rPr>
              <a:t>High amounts, old charges or a stolen card go to a person, with nothing left to ask.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icebank-mark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5328" y="347472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393192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A1F3D"/>
                </a:solidFill>
                <a:latin typeface="Montserrat"/>
              </a:rPr>
              <a:t>NiceBank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7A1F3D"/>
                </a:solidFill>
                <a:latin typeface="Montserrat"/>
              </a:rPr>
              <a:t>VALUE FOR THE BANK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23161B"/>
                </a:solidFill>
                <a:latin typeface="Montserrat"/>
              </a:rPr>
              <a:t>Value for the bank, proven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5A62"/>
                </a:solidFill>
                <a:latin typeface="Montserrat"/>
              </a:rPr>
              <a:t>Factored AI &amp; Data Hackathon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4190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7A1F3D"/>
                </a:solidFill>
                <a:latin typeface="Montserrat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2743200" cy="2057400"/>
          </a:xfrm>
          <a:prstGeom prst="roundRect">
            <a:avLst>
              <a:gd name="adj" fmla="val 7555"/>
            </a:avLst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92808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ontserrat"/>
              </a:rPr>
              <a:t>&lt; 1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51760"/>
            <a:ext cx="2331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F8EEF1"/>
                </a:solidFill>
                <a:latin typeface="Montserrat"/>
              </a:rPr>
              <a:t>from first message to a verified dispute, instead of ~15 days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39" y="1691640"/>
            <a:ext cx="2743200" cy="2057400"/>
          </a:xfrm>
          <a:prstGeom prst="roundRect">
            <a:avLst>
              <a:gd name="adj" fmla="val 7555"/>
            </a:avLst>
          </a:prstGeom>
          <a:solidFill>
            <a:srgbClr val="FFFFFF"/>
          </a:solidFill>
          <a:ln w="12700">
            <a:solidFill>
              <a:srgbClr val="EF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39" y="1892808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7A1F3D"/>
                </a:solidFill>
                <a:latin typeface="Montserrat"/>
              </a:rPr>
              <a:t>82%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651760"/>
            <a:ext cx="2331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E5A62"/>
                </a:solidFill>
                <a:latin typeface="Montserrat"/>
              </a:rPr>
              <a:t>of routine disputes resolved automatically and correctly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31920"/>
            <a:ext cx="2743200" cy="2057400"/>
          </a:xfrm>
          <a:prstGeom prst="roundRect">
            <a:avLst>
              <a:gd name="adj" fmla="val 7555"/>
            </a:avLst>
          </a:prstGeom>
          <a:solidFill>
            <a:srgbClr val="FFFFFF"/>
          </a:solidFill>
          <a:ln w="12700">
            <a:solidFill>
              <a:srgbClr val="EF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133088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7A1F3D"/>
                </a:solidFill>
                <a:latin typeface="Montserrat"/>
              </a:rPr>
              <a:t>43% fewer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892040"/>
            <a:ext cx="2331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E5A62"/>
                </a:solidFill>
                <a:latin typeface="Montserrat"/>
              </a:rPr>
              <a:t>cases sent to a specialist than a rules-only process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20439" y="3931920"/>
            <a:ext cx="2743200" cy="2057400"/>
          </a:xfrm>
          <a:prstGeom prst="roundRect">
            <a:avLst>
              <a:gd name="adj" fmla="val 7555"/>
            </a:avLst>
          </a:prstGeom>
          <a:solidFill>
            <a:srgbClr val="FFFFFF"/>
          </a:solidFill>
          <a:ln w="12700">
            <a:solidFill>
              <a:srgbClr val="EF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49039" y="4133088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7A1F3D"/>
                </a:solidFill>
                <a:latin typeface="Montserrat"/>
              </a:rPr>
              <a:t>0 / 120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4892040"/>
            <a:ext cx="2331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E5A62"/>
                </a:solidFill>
                <a:latin typeface="Montserrat"/>
              </a:rPr>
              <a:t>unsafe outcomes: when unsure, it asks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37960" y="1691640"/>
            <a:ext cx="5029200" cy="4297680"/>
          </a:xfrm>
          <a:prstGeom prst="roundRect">
            <a:avLst>
              <a:gd name="adj" fmla="val 3617"/>
            </a:avLst>
          </a:prstGeom>
          <a:solidFill>
            <a:srgbClr val="FFFFFF"/>
          </a:solidFill>
          <a:ln w="12700">
            <a:solidFill>
              <a:srgbClr val="EF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18288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3161B"/>
                </a:solidFill>
                <a:latin typeface="Montserrat"/>
              </a:rPr>
              <a:t>Correct outcomes on 120 cases it had never seen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6675120" y="2286000"/>
          <a:ext cx="4754880" cy="3611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40080" y="6080760"/>
            <a:ext cx="10927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E5A62"/>
                </a:solidFill>
                <a:latin typeface="Montserrat"/>
              </a:rPr>
              <a:t>Specialists receive prioritized cases with verified facts and evidence: they decide, they don't re-ask.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icebank-mark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5328" y="347472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393192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A1F3D"/>
                </a:solidFill>
                <a:latin typeface="Montserrat"/>
              </a:rPr>
              <a:t>NiceBank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7A1F3D"/>
                </a:solidFill>
                <a:latin typeface="Montserrat"/>
              </a:rPr>
              <a:t>HOW IT'S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23161B"/>
                </a:solidFill>
                <a:latin typeface="Montserrat"/>
              </a:rPr>
              <a:t>How it's built, and why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5A62"/>
                </a:solidFill>
                <a:latin typeface="Montserrat"/>
              </a:rPr>
              <a:t>Factored AI &amp; Data Hackathon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4190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7A1F3D"/>
                </a:solidFill>
                <a:latin typeface="Montserrat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1993392" cy="1417320"/>
          </a:xfrm>
          <a:prstGeom prst="roundRect">
            <a:avLst>
              <a:gd name="adj" fmla="val 10967"/>
            </a:avLst>
          </a:prstGeom>
          <a:solidFill>
            <a:srgbClr val="FFFFFF"/>
          </a:solidFill>
          <a:ln w="12700">
            <a:solidFill>
              <a:srgbClr val="EF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810512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3161B"/>
                </a:solidFill>
                <a:latin typeface="Montserrat"/>
              </a:rPr>
              <a:t>Message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2212848"/>
            <a:ext cx="1691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E5A62"/>
                </a:solidFill>
                <a:latin typeface="Montserrat"/>
              </a:rPr>
              <a:t>Spanish or Portuguese, as the customer says it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651760" y="2286000"/>
            <a:ext cx="182880" cy="237744"/>
          </a:xfrm>
          <a:prstGeom prst="rightArrow">
            <a:avLst/>
          </a:prstGeom>
          <a:solidFill>
            <a:srgbClr val="E8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62072" y="1691640"/>
            <a:ext cx="1993392" cy="1417320"/>
          </a:xfrm>
          <a:prstGeom prst="roundRect">
            <a:avLst>
              <a:gd name="adj" fmla="val 10967"/>
            </a:avLst>
          </a:prstGeom>
          <a:solidFill>
            <a:srgbClr val="FFFFFF"/>
          </a:solidFill>
          <a:ln w="12700">
            <a:solidFill>
              <a:srgbClr val="EF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26664" y="1810512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3161B"/>
                </a:solidFill>
                <a:latin typeface="Montserrat"/>
              </a:rPr>
              <a:t>Protect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26664" y="2212848"/>
            <a:ext cx="1691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E5A62"/>
                </a:solidFill>
                <a:latin typeface="Montserrat"/>
              </a:rPr>
              <a:t>Mask personal data, refuse abuse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873752" y="2286000"/>
            <a:ext cx="182880" cy="237744"/>
          </a:xfrm>
          <a:prstGeom prst="rightArrow">
            <a:avLst/>
          </a:prstGeom>
          <a:solidFill>
            <a:srgbClr val="E8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84064" y="1691640"/>
            <a:ext cx="1993392" cy="1417320"/>
          </a:xfrm>
          <a:prstGeom prst="roundRect">
            <a:avLst>
              <a:gd name="adj" fmla="val 10967"/>
            </a:avLst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48656" y="1810512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ontserrat"/>
              </a:rPr>
              <a:t>Understand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48656" y="2212848"/>
            <a:ext cx="1691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8EEF1"/>
                </a:solidFill>
                <a:latin typeface="Montserrat"/>
              </a:rPr>
              <a:t>Classifier + LLM: acts only if both agree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095744" y="2286000"/>
            <a:ext cx="182880" cy="237744"/>
          </a:xfrm>
          <a:prstGeom prst="rightArrow">
            <a:avLst/>
          </a:prstGeom>
          <a:solidFill>
            <a:srgbClr val="E8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06056" y="1691640"/>
            <a:ext cx="1993392" cy="1417320"/>
          </a:xfrm>
          <a:prstGeom prst="roundRect">
            <a:avLst>
              <a:gd name="adj" fmla="val 10967"/>
            </a:avLst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70648" y="1810512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ontserrat"/>
              </a:rPr>
              <a:t>Decide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0648" y="2212848"/>
            <a:ext cx="1691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F8EEF1"/>
                </a:solidFill>
                <a:latin typeface="Montserrat"/>
              </a:rPr>
              <a:t>Written policy: deadlines and limits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317736" y="2286000"/>
            <a:ext cx="182880" cy="237744"/>
          </a:xfrm>
          <a:prstGeom prst="rightArrow">
            <a:avLst/>
          </a:prstGeom>
          <a:solidFill>
            <a:srgbClr val="E8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528048" y="1691640"/>
            <a:ext cx="1993392" cy="1417320"/>
          </a:xfrm>
          <a:prstGeom prst="roundRect">
            <a:avLst>
              <a:gd name="adj" fmla="val 10967"/>
            </a:avLst>
          </a:prstGeom>
          <a:solidFill>
            <a:srgbClr val="FFFFFF"/>
          </a:solidFill>
          <a:ln w="12700">
            <a:solidFill>
              <a:srgbClr val="EF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0" y="1810512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3161B"/>
                </a:solidFill>
                <a:latin typeface="Montserrat"/>
              </a:rPr>
              <a:t>Act or hand 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2212848"/>
            <a:ext cx="1691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E5A62"/>
                </a:solidFill>
                <a:latin typeface="Montserrat"/>
              </a:rPr>
              <a:t>Customer confirms; or a specialist gets the case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383280"/>
            <a:ext cx="3520440" cy="1261872"/>
          </a:xfrm>
          <a:prstGeom prst="roundRect">
            <a:avLst>
              <a:gd name="adj" fmla="val 12318"/>
            </a:avLst>
          </a:prstGeom>
          <a:solidFill>
            <a:srgbClr val="FFFFFF"/>
          </a:solidFill>
          <a:ln w="12700">
            <a:solidFill>
              <a:srgbClr val="EF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6384" y="3657600"/>
            <a:ext cx="64008" cy="713232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4127" y="352044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7A1F3D"/>
                </a:solidFill>
                <a:latin typeface="Montserrat"/>
              </a:rPr>
              <a:t>Autonomy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7" y="3886200"/>
            <a:ext cx="2971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61B"/>
                </a:solidFill>
                <a:latin typeface="Montserrat"/>
              </a:rPr>
              <a:t>Acts only after the customer confirms. Never moves money. High amounts go to a person.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43400" y="3383280"/>
            <a:ext cx="3520440" cy="1261872"/>
          </a:xfrm>
          <a:prstGeom prst="roundRect">
            <a:avLst>
              <a:gd name="adj" fmla="val 12318"/>
            </a:avLst>
          </a:prstGeom>
          <a:solidFill>
            <a:srgbClr val="FFFFFF"/>
          </a:solidFill>
          <a:ln w="12700">
            <a:solidFill>
              <a:srgbClr val="EF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489704" y="3657600"/>
            <a:ext cx="64008" cy="713232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27448" y="352044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7A1F3D"/>
                </a:solidFill>
                <a:latin typeface="Montserrat"/>
              </a:rPr>
              <a:t>Accuracy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27448" y="3886200"/>
            <a:ext cx="2971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61B"/>
                </a:solidFill>
                <a:latin typeface="Montserrat"/>
              </a:rPr>
              <a:t>Two models must agree on the type: 86.7% correct on unseen cases, 0 unsafe.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19" y="3383280"/>
            <a:ext cx="3520440" cy="1261872"/>
          </a:xfrm>
          <a:prstGeom prst="roundRect">
            <a:avLst>
              <a:gd name="adj" fmla="val 12318"/>
            </a:avLst>
          </a:prstGeom>
          <a:solidFill>
            <a:srgbClr val="FFFFFF"/>
          </a:solidFill>
          <a:ln w="12700">
            <a:solidFill>
              <a:srgbClr val="EF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93023" y="3657600"/>
            <a:ext cx="64008" cy="713232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30767" y="352044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7A1F3D"/>
                </a:solidFill>
                <a:latin typeface="Montserrat"/>
              </a:rPr>
              <a:t>Latency &amp; cost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30767" y="3886200"/>
            <a:ext cx="2971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61B"/>
                </a:solidFill>
                <a:latin typeface="Montserrat"/>
              </a:rPr>
              <a:t>About 1 s per reply, the LLM runs in parallel. US$0.0001 per conversation.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4800600"/>
            <a:ext cx="5394960" cy="1261872"/>
          </a:xfrm>
          <a:prstGeom prst="roundRect">
            <a:avLst>
              <a:gd name="adj" fmla="val 12318"/>
            </a:avLst>
          </a:prstGeom>
          <a:solidFill>
            <a:srgbClr val="FFFFFF"/>
          </a:solidFill>
          <a:ln w="12700">
            <a:solidFill>
              <a:srgbClr val="EF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86384" y="5074920"/>
            <a:ext cx="64008" cy="713232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24127" y="49377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7A1F3D"/>
                </a:solidFill>
                <a:latin typeface="Montserrat"/>
              </a:rPr>
              <a:t>Human oversight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7" y="5303520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61B"/>
                </a:solidFill>
                <a:latin typeface="Montserrat"/>
              </a:rPr>
              <a:t>Specialist console with full audit trail; identity shown only when a case is claimed.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72200" y="4800600"/>
            <a:ext cx="5394960" cy="1261872"/>
          </a:xfrm>
          <a:prstGeom prst="roundRect">
            <a:avLst>
              <a:gd name="adj" fmla="val 12318"/>
            </a:avLst>
          </a:prstGeom>
          <a:solidFill>
            <a:srgbClr val="FFFFFF"/>
          </a:solidFill>
          <a:ln w="12700">
            <a:solidFill>
              <a:srgbClr val="EF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18504" y="5074920"/>
            <a:ext cx="64008" cy="713232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56248" y="49377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7A1F3D"/>
                </a:solidFill>
                <a:latin typeface="Montserrat"/>
              </a:rPr>
              <a:t>Privacy &amp; fairness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56248" y="5303520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61B"/>
                </a:solidFill>
                <a:latin typeface="Montserrat"/>
              </a:rPr>
              <a:t>The LLM only sees masked text. No decision uses country or segment.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icebank-mark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5328" y="347472"/>
            <a:ext cx="384048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393192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A1F3D"/>
                </a:solidFill>
                <a:latin typeface="Montserrat"/>
              </a:rPr>
              <a:t>NiceBank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7A1F3D"/>
                </a:solidFill>
                <a:latin typeface="Montserrat"/>
              </a:rPr>
              <a:t>NEXT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8580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23161B"/>
                </a:solidFill>
                <a:latin typeface="Montserrat"/>
              </a:rPr>
              <a:t>Ready for a 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5A62"/>
                </a:solidFill>
                <a:latin typeface="Montserrat"/>
              </a:rPr>
              <a:t>Factored AI &amp; Data Hackathon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4190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7A1F3D"/>
                </a:solidFill>
                <a:latin typeface="Montserrat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3520440" cy="233172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EF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2057400"/>
            <a:ext cx="640080" cy="64008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0574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176272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23161B"/>
                </a:solidFill>
                <a:latin typeface="Montserrat"/>
              </a:rPr>
              <a:t>Shadow mode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26080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6E5A62"/>
                </a:solidFill>
                <a:latin typeface="Montserrat"/>
              </a:rPr>
              <a:t>The assistant reads real, consented messages and proposes; specialists compare. No customer impact.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187952" y="2990088"/>
            <a:ext cx="128016" cy="274320"/>
          </a:xfrm>
          <a:prstGeom prst="rightArrow">
            <a:avLst/>
          </a:prstGeom>
          <a:solidFill>
            <a:srgbClr val="E8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43400" y="1783080"/>
            <a:ext cx="3520440" cy="233172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EF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17720" y="2057400"/>
            <a:ext cx="640080" cy="640080"/>
          </a:xfrm>
          <a:prstGeom prst="ellipse">
            <a:avLst/>
          </a:prstGeom>
          <a:solidFill>
            <a:srgbClr val="4A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20574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2176272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23161B"/>
                </a:solidFill>
                <a:latin typeface="Montserrat"/>
              </a:rPr>
              <a:t>Pilot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926080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6E5A62"/>
                </a:solidFill>
                <a:latin typeface="Montserrat"/>
              </a:rPr>
              <a:t>One country and a share of customers, with daily quality and safety reports.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891271" y="2990088"/>
            <a:ext cx="128016" cy="274320"/>
          </a:xfrm>
          <a:prstGeom prst="rightArrow">
            <a:avLst/>
          </a:prstGeom>
          <a:solidFill>
            <a:srgbClr val="E8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46719" y="1783080"/>
            <a:ext cx="3520440" cy="233172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EF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21040" y="2057400"/>
            <a:ext cx="640080" cy="640080"/>
          </a:xfrm>
          <a:prstGeom prst="ellipse">
            <a:avLst/>
          </a:prstGeom>
          <a:solidFill>
            <a:srgbClr val="2E0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20574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3999" y="2176272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23161B"/>
                </a:solidFill>
                <a:latin typeface="Montserrat"/>
              </a:rPr>
              <a:t>Scale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926080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6E5A62"/>
                </a:solidFill>
                <a:latin typeface="Montserrat"/>
              </a:rPr>
              <a:t>More countries and channels such as WhatsApp, with the same rules and audit trail.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343400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E5A62"/>
                </a:solidFill>
                <a:latin typeface="Montserrat"/>
              </a:rPr>
              <a:t>Built on the organizer's synthetic data; the pilot is where real customer language confirms these results.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983480"/>
            <a:ext cx="10927080" cy="1005840"/>
          </a:xfrm>
          <a:prstGeom prst="roundRect">
            <a:avLst>
              <a:gd name="adj" fmla="val 15454"/>
            </a:avLst>
          </a:prstGeom>
          <a:solidFill>
            <a:srgbClr val="2E0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nicebank-mark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212080"/>
            <a:ext cx="548640" cy="5486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691640" y="4983480"/>
            <a:ext cx="96012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ontserrat"/>
              </a:rPr>
              <a:t>When it is not sure, it asks. When a person is needed, the person gets everything.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