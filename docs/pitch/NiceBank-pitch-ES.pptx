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%</c:v>
                </c:pt>
              </c:strCache>
            </c:strRef>
          </c:tx>
          <c:dPt>
            <c:idx val="0"/>
            <c:spPr>
              <a:solidFill>
                <a:srgbClr val="E8B4C3"/>
              </a:solidFill>
            </c:spPr>
          </c:dPt>
          <c:dPt>
            <c:idx val="1"/>
            <c:spPr>
              <a:solidFill>
                <a:srgbClr val="E8B4C3"/>
              </a:solidFill>
            </c:spPr>
          </c:dPt>
          <c:dPt>
            <c:idx val="2"/>
            <c:spPr>
              <a:solidFill>
                <a:srgbClr val="E8B4C3"/>
              </a:solidFill>
            </c:spPr>
          </c:dPt>
          <c:dPt>
            <c:idx val="3"/>
            <c:spPr>
              <a:solidFill>
                <a:srgbClr val="7A1F3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sz="1200" b="1">
                        <a:solidFill>
                          <a:srgbClr val="23161B"/>
                        </a:solidFill>
                        <a:latin typeface="Montserrat"/>
                      </a:rPr>
                      <a:t>65,0%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1200" b="1">
                        <a:solidFill>
                          <a:srgbClr val="23161B"/>
                        </a:solidFill>
                        <a:latin typeface="Montserrat"/>
                      </a:rPr>
                      <a:t>70,8%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1200" b="1">
                        <a:solidFill>
                          <a:srgbClr val="23161B"/>
                        </a:solidFill>
                        <a:latin typeface="Montserrat"/>
                      </a:rPr>
                      <a:t>79,2%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rPr sz="1200" b="1">
                        <a:solidFill>
                          <a:srgbClr val="23161B"/>
                        </a:solidFill>
                        <a:latin typeface="Montserrat"/>
                      </a:rPr>
                      <a:t>86,7%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Primera versión</c:v>
                </c:pt>
                <c:pt idx="1">
                  <c:v>Reentrenado</c:v>
                </c:pt>
                <c:pt idx="2">
                  <c:v>+ detector de rechazo</c:v>
                </c:pt>
                <c:pt idx="3">
                  <c:v>+ segunda opinión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65.0</c:v>
                </c:pt>
                <c:pt idx="1">
                  <c:v>70.8</c:v>
                </c:pt>
                <c:pt idx="2">
                  <c:v>79.2</c:v>
                </c:pt>
                <c:pt idx="3">
                  <c:v>86.7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FE3E7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6E5A62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0A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-1463040"/>
            <a:ext cx="5669280" cy="5669280"/>
          </a:xfrm>
          <a:prstGeom prst="ellipse">
            <a:avLst/>
          </a:prstGeom>
          <a:solidFill>
            <a:srgbClr val="4A1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966960" y="3291840"/>
            <a:ext cx="4023360" cy="4023360"/>
          </a:xfrm>
          <a:prstGeom prst="ellipse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nicebank-mark-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731520"/>
            <a:ext cx="822960" cy="8229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691640" y="932688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ontserrat"/>
              </a:rPr>
              <a:t>NiceBank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659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8B4C3"/>
                </a:solidFill>
                <a:latin typeface="Montserrat"/>
              </a:rPr>
              <a:t>ASISTENTE DE DISPUTAS NICEBANK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822960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4200" b="1">
                <a:solidFill>
                  <a:srgbClr val="FFFFFF"/>
                </a:solidFill>
                <a:latin typeface="Montserrat"/>
              </a:rPr>
              <a:t>Disputas de tarjeta resueltas en un minuto, no en 15 días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114800"/>
            <a:ext cx="7498079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E8B4C3"/>
                </a:solidFill>
                <a:latin typeface="Montserrat"/>
              </a:rPr>
              <a:t>Un asistente con IA que encuentra el cobro exacto, lo explica o abre la disputa, y le deja al especialista solo los casos que lo necesitan.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577840"/>
            <a:ext cx="5852160" cy="457200"/>
          </a:xfrm>
          <a:prstGeom prst="roundRect">
            <a:avLst>
              <a:gd name="adj" fmla="val 50000"/>
            </a:avLst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5577840"/>
            <a:ext cx="5852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ontserrat"/>
              </a:rPr>
              <a:t>Español y portugués  ·  México  ·  Colombia  ·  Argentina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3093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E8B4C3"/>
                </a:solidFill>
                <a:latin typeface="Montserrat"/>
              </a:rPr>
              <a:t>Factored AI &amp; Data Hackathon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nicebank-mark-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5328" y="347472"/>
            <a:ext cx="384048" cy="384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064240" y="393192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7A1F3D"/>
                </a:solidFill>
                <a:latin typeface="Montserrat"/>
              </a:rPr>
              <a:t>NiceBank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7A1F3D"/>
                </a:solidFill>
                <a:latin typeface="Montserrat"/>
              </a:rPr>
              <a:t>EL DOLOR DEL CLIENTE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85800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23161B"/>
                </a:solidFill>
                <a:latin typeface="Montserrat"/>
              </a:rPr>
              <a:t>"No reconozco este cobro": 15 días de espera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E5A62"/>
                </a:solidFill>
                <a:latin typeface="Montserrat"/>
              </a:rPr>
              <a:t>Factored AI &amp; Data Hackathon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1672" y="641908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7A1F3D"/>
                </a:solidFill>
                <a:latin typeface="Montserrat"/>
              </a:rPr>
              <a:t>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37360"/>
            <a:ext cx="5120640" cy="4251960"/>
          </a:xfrm>
          <a:prstGeom prst="roundRect">
            <a:avLst>
              <a:gd name="adj" fmla="val 3655"/>
            </a:avLst>
          </a:prstGeom>
          <a:solidFill>
            <a:srgbClr val="FFFFFF"/>
          </a:solidFill>
          <a:ln w="12700">
            <a:solidFill>
              <a:srgbClr val="EFE3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920240"/>
            <a:ext cx="4572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23161B"/>
                </a:solidFill>
                <a:latin typeface="Montserrat"/>
              </a:rPr>
              <a:t>Hoy, para María</a:t>
            </a:r>
          </a:p>
        </p:txBody>
      </p:sp>
      <p:sp>
        <p:nvSpPr>
          <p:cNvPr id="11" name="Oval 10"/>
          <p:cNvSpPr/>
          <p:nvPr/>
        </p:nvSpPr>
        <p:spPr>
          <a:xfrm>
            <a:off x="960120" y="2560320"/>
            <a:ext cx="384048" cy="384048"/>
          </a:xfrm>
          <a:prstGeom prst="ellipse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33856" y="2944368"/>
            <a:ext cx="36576" cy="713232"/>
          </a:xfrm>
          <a:prstGeom prst="rect">
            <a:avLst/>
          </a:prstGeom>
          <a:solidFill>
            <a:srgbClr val="E8B4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54480" y="2542032"/>
            <a:ext cx="3931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7A1F3D"/>
                </a:solidFill>
                <a:latin typeface="Montserrat"/>
              </a:rPr>
              <a:t>Día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2834639"/>
            <a:ext cx="39319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E5A62"/>
                </a:solidFill>
                <a:latin typeface="Montserrat"/>
              </a:rPr>
              <a:t>Ve un cobro raro y llama al banco, preocupada.</a:t>
            </a:r>
          </a:p>
        </p:txBody>
      </p:sp>
      <p:sp>
        <p:nvSpPr>
          <p:cNvPr id="15" name="Oval 14"/>
          <p:cNvSpPr/>
          <p:nvPr/>
        </p:nvSpPr>
        <p:spPr>
          <a:xfrm>
            <a:off x="960120" y="3657600"/>
            <a:ext cx="384048" cy="384048"/>
          </a:xfrm>
          <a:prstGeom prst="ellipse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33856" y="4041648"/>
            <a:ext cx="36576" cy="713232"/>
          </a:xfrm>
          <a:prstGeom prst="rect">
            <a:avLst/>
          </a:prstGeom>
          <a:solidFill>
            <a:srgbClr val="E8B4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554480" y="3639312"/>
            <a:ext cx="3931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7A1F3D"/>
                </a:solidFill>
                <a:latin typeface="Montserrat"/>
              </a:rPr>
              <a:t>Día 2–10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3931920"/>
            <a:ext cx="39319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E5A62"/>
                </a:solidFill>
                <a:latin typeface="Montserrat"/>
              </a:rPr>
              <a:t>Le explica todo de nuevo a otra persona; nadie lo encuentra.</a:t>
            </a:r>
          </a:p>
        </p:txBody>
      </p:sp>
      <p:sp>
        <p:nvSpPr>
          <p:cNvPr id="19" name="Oval 18"/>
          <p:cNvSpPr/>
          <p:nvPr/>
        </p:nvSpPr>
        <p:spPr>
          <a:xfrm>
            <a:off x="960120" y="4754879"/>
            <a:ext cx="384048" cy="384048"/>
          </a:xfrm>
          <a:prstGeom prst="ellipse">
            <a:avLst/>
          </a:prstGeom>
          <a:solidFill>
            <a:srgbClr val="E8B4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554480" y="4736592"/>
            <a:ext cx="3931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7A1F3D"/>
                </a:solidFill>
                <a:latin typeface="Montserrat"/>
              </a:rPr>
              <a:t>Día 15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5029199"/>
            <a:ext cx="39319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E5A62"/>
                </a:solidFill>
                <a:latin typeface="Montserrat"/>
              </a:rPr>
              <a:t>Recibe respuesta, si su caso no se pasó del plazo.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35040" y="1737360"/>
            <a:ext cx="2651760" cy="1920240"/>
          </a:xfrm>
          <a:prstGeom prst="roundRect">
            <a:avLst>
              <a:gd name="adj" fmla="val 8095"/>
            </a:avLst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63640" y="1965960"/>
            <a:ext cx="2286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Montserrat"/>
              </a:rPr>
              <a:t>40%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3640" y="2743200"/>
            <a:ext cx="22402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F8EEF1"/>
                </a:solidFill>
                <a:latin typeface="Montserrat"/>
              </a:rPr>
              <a:t>de los reclamos son disputas por cobros con tarjeta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823959" y="1737360"/>
            <a:ext cx="2651760" cy="1920240"/>
          </a:xfrm>
          <a:prstGeom prst="roundRect">
            <a:avLst>
              <a:gd name="adj" fmla="val 8095"/>
            </a:avLst>
          </a:prstGeom>
          <a:solidFill>
            <a:srgbClr val="FFFFFF"/>
          </a:solidFill>
          <a:ln w="12700">
            <a:solidFill>
              <a:srgbClr val="EFE3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59" y="1965960"/>
            <a:ext cx="2286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7A1F3D"/>
                </a:solidFill>
                <a:latin typeface="Montserrat"/>
              </a:rPr>
              <a:t>~15 días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52559" y="2743200"/>
            <a:ext cx="22402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6E5A62"/>
                </a:solidFill>
                <a:latin typeface="Montserrat"/>
              </a:rPr>
              <a:t>tarda en resolverse cada una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035040" y="3840479"/>
            <a:ext cx="2651760" cy="1920240"/>
          </a:xfrm>
          <a:prstGeom prst="roundRect">
            <a:avLst>
              <a:gd name="adj" fmla="val 8095"/>
            </a:avLst>
          </a:prstGeom>
          <a:solidFill>
            <a:srgbClr val="FFFFFF"/>
          </a:solidFill>
          <a:ln w="12700">
            <a:solidFill>
              <a:srgbClr val="EFE3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63640" y="4069079"/>
            <a:ext cx="2286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7A1F3D"/>
                </a:solidFill>
                <a:latin typeface="Montserrat"/>
              </a:rPr>
              <a:t>75%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63640" y="4846319"/>
            <a:ext cx="22402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6E5A62"/>
                </a:solidFill>
                <a:latin typeface="Montserrat"/>
              </a:rPr>
              <a:t>de esos reclamos sigue abierto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823959" y="3840479"/>
            <a:ext cx="2651760" cy="1920240"/>
          </a:xfrm>
          <a:prstGeom prst="roundRect">
            <a:avLst>
              <a:gd name="adj" fmla="val 8095"/>
            </a:avLst>
          </a:prstGeom>
          <a:solidFill>
            <a:srgbClr val="FFFFFF"/>
          </a:solidFill>
          <a:ln w="12700">
            <a:solidFill>
              <a:srgbClr val="EFE3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59" y="4069079"/>
            <a:ext cx="2286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7A1F3D"/>
                </a:solidFill>
                <a:latin typeface="Montserrat"/>
              </a:rPr>
              <a:t>3,1 / 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52559" y="4846319"/>
            <a:ext cx="22402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6E5A62"/>
                </a:solidFill>
                <a:latin typeface="Montserrat"/>
              </a:rPr>
              <a:t>satisfacción del cliente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35040" y="59893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6E5A62"/>
                </a:solidFill>
                <a:latin typeface="Montserrat"/>
              </a:rPr>
              <a:t>Fuente: datos del organizador, 27.133 reclamos por disputas en tres años.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nicebank-mark-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5328" y="347472"/>
            <a:ext cx="384048" cy="384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064240" y="393192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7A1F3D"/>
                </a:solidFill>
                <a:latin typeface="Montserrat"/>
              </a:rPr>
              <a:t>NiceBank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7A1F3D"/>
                </a:solidFill>
                <a:latin typeface="Montserrat"/>
              </a:rPr>
              <a:t>LA EXPERIENCIA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85800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23161B"/>
                </a:solidFill>
                <a:latin typeface="Montserrat"/>
              </a:rPr>
              <a:t>María lo escribe como lo diría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E5A62"/>
                </a:solidFill>
                <a:latin typeface="Montserrat"/>
              </a:rPr>
              <a:t>Factored AI &amp; Data Hackathon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1672" y="641908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7A1F3D"/>
                </a:solidFill>
                <a:latin typeface="Montserrat"/>
              </a:rPr>
              <a:t>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37360"/>
            <a:ext cx="5486400" cy="4526280"/>
          </a:xfrm>
          <a:prstGeom prst="roundRect">
            <a:avLst>
              <a:gd name="adj" fmla="val 3434"/>
            </a:avLst>
          </a:prstGeom>
          <a:solidFill>
            <a:srgbClr val="F8EEF1"/>
          </a:solidFill>
          <a:ln w="12700">
            <a:solidFill>
              <a:srgbClr val="E8B4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057400" y="1965960"/>
            <a:ext cx="3840480" cy="658368"/>
          </a:xfrm>
          <a:prstGeom prst="roundRect">
            <a:avLst>
              <a:gd name="adj" fmla="val 23611"/>
            </a:avLst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58568" y="1965960"/>
            <a:ext cx="347472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ontserrat"/>
              </a:rPr>
              <a:t>No reconozco un cobro de 385,71 de hoy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2825496"/>
            <a:ext cx="4480560" cy="1097280"/>
          </a:xfrm>
          <a:prstGeom prst="roundRect">
            <a:avLst>
              <a:gd name="adj" fmla="val 14166"/>
            </a:avLst>
          </a:prstGeom>
          <a:solidFill>
            <a:srgbClr val="FFFFFF"/>
          </a:solidFill>
          <a:ln w="12700">
            <a:solidFill>
              <a:srgbClr val="EFE3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9848" y="2825496"/>
            <a:ext cx="411480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23161B"/>
                </a:solidFill>
                <a:latin typeface="Montserrat"/>
              </a:rPr>
              <a:t>Encontré el cargo de 385,71 USD en Streaming Music del 17 de junio con tu tarjeta terminada en 2457. ¿Confirmas que abra una disputa por "Cargo no reconocido"?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6818" y="4123944"/>
            <a:ext cx="1581061" cy="438912"/>
          </a:xfrm>
          <a:prstGeom prst="roundRect">
            <a:avLst>
              <a:gd name="adj" fmla="val 50000"/>
            </a:avLst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17986" y="4123944"/>
            <a:ext cx="1215301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ontserrat"/>
              </a:rPr>
              <a:t>✓ Confirmar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4764024"/>
            <a:ext cx="4480560" cy="877824"/>
          </a:xfrm>
          <a:prstGeom prst="roundRect">
            <a:avLst>
              <a:gd name="adj" fmla="val 17708"/>
            </a:avLst>
          </a:prstGeom>
          <a:solidFill>
            <a:srgbClr val="FFFFFF"/>
          </a:solidFill>
          <a:ln w="12700">
            <a:solidFill>
              <a:srgbClr val="EFE3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9848" y="4764024"/>
            <a:ext cx="4114800" cy="8778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23161B"/>
                </a:solidFill>
                <a:latin typeface="Montserrat"/>
              </a:rPr>
              <a:t>Listo: abrí la disputa DSP-001048 por el cargo de 385,71 USD en Streaming Music. Verifiqué que el caso quedó registrado.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89788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6E5A62"/>
                </a:solidFill>
                <a:latin typeface="Montserrat"/>
              </a:rPr>
              <a:t>Conversación real de nuestra demo (el producto habla español y portugués)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1783080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23161B"/>
                </a:solidFill>
                <a:latin typeface="Montserrat"/>
              </a:rPr>
              <a:t>Tres resultados, en un minuto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92240" y="2331720"/>
            <a:ext cx="5074920" cy="1188720"/>
          </a:xfrm>
          <a:prstGeom prst="roundRect">
            <a:avLst>
              <a:gd name="adj" fmla="val 13076"/>
            </a:avLst>
          </a:prstGeom>
          <a:solidFill>
            <a:srgbClr val="FFFFFF"/>
          </a:solidFill>
          <a:ln w="12700">
            <a:solidFill>
              <a:srgbClr val="EFE3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720840" y="2606039"/>
            <a:ext cx="457200" cy="457200"/>
          </a:xfrm>
          <a:prstGeom prst="ellipse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20840" y="2606039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ontserrat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06640" y="2496312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3161B"/>
                </a:solidFill>
                <a:latin typeface="Montserrat"/>
              </a:rPr>
              <a:t>Disputa abierta y verificada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06640" y="2834639"/>
            <a:ext cx="40233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6E5A62"/>
                </a:solidFill>
                <a:latin typeface="Montserrat"/>
              </a:rPr>
              <a:t>Encontrada en su propio historial y confirmada antes de hacer nada.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92240" y="3657600"/>
            <a:ext cx="5074920" cy="1188720"/>
          </a:xfrm>
          <a:prstGeom prst="roundRect">
            <a:avLst>
              <a:gd name="adj" fmla="val 13076"/>
            </a:avLst>
          </a:prstGeom>
          <a:solidFill>
            <a:srgbClr val="FFFFFF"/>
          </a:solidFill>
          <a:ln w="12700">
            <a:solidFill>
              <a:srgbClr val="EFE3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720840" y="3931920"/>
            <a:ext cx="457200" cy="457200"/>
          </a:xfrm>
          <a:prstGeom prst="ellipse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20840" y="393192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ontserrat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06640" y="3822191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3161B"/>
                </a:solidFill>
                <a:latin typeface="Montserrat"/>
              </a:rPr>
              <a:t>Explicado, sin disputa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06640" y="4160520"/>
            <a:ext cx="40233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6E5A62"/>
                </a:solidFill>
                <a:latin typeface="Montserrat"/>
              </a:rPr>
              <a:t>El 8% de las compras con tarjeta está pendiente, rechazada o ya revertida: se lo dice con el movimiento real.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92240" y="4983479"/>
            <a:ext cx="5074920" cy="1188720"/>
          </a:xfrm>
          <a:prstGeom prst="roundRect">
            <a:avLst>
              <a:gd name="adj" fmla="val 13076"/>
            </a:avLst>
          </a:prstGeom>
          <a:solidFill>
            <a:srgbClr val="FFFFFF"/>
          </a:solidFill>
          <a:ln w="12700">
            <a:solidFill>
              <a:srgbClr val="EFE3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720840" y="5257799"/>
            <a:ext cx="457200" cy="457200"/>
          </a:xfrm>
          <a:prstGeom prst="ellipse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20840" y="5257799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ontserrat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06640" y="5148071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3161B"/>
                </a:solidFill>
                <a:latin typeface="Montserrat"/>
              </a:rPr>
              <a:t>Un especialista con el caso completo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06640" y="5486399"/>
            <a:ext cx="40233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6E5A62"/>
                </a:solidFill>
                <a:latin typeface="Montserrat"/>
              </a:rPr>
              <a:t>Montos altos, cobros viejos o tarjeta robada van a una persona, sin nada que volver a preguntar.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nicebank-mark-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5328" y="347472"/>
            <a:ext cx="384048" cy="384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064240" y="393192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7A1F3D"/>
                </a:solidFill>
                <a:latin typeface="Montserrat"/>
              </a:rPr>
              <a:t>NiceBank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7A1F3D"/>
                </a:solidFill>
                <a:latin typeface="Montserrat"/>
              </a:rPr>
              <a:t>VALOR PARA EL BANCO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85800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23161B"/>
                </a:solidFill>
                <a:latin typeface="Montserrat"/>
              </a:rPr>
              <a:t>Valor para el banco, comprobado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E5A62"/>
                </a:solidFill>
                <a:latin typeface="Montserrat"/>
              </a:rPr>
              <a:t>Factored AI &amp; Data Hackathon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1672" y="641908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7A1F3D"/>
                </a:solidFill>
                <a:latin typeface="Montserrat"/>
              </a:rPr>
              <a:t>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2743200" cy="2057400"/>
          </a:xfrm>
          <a:prstGeom prst="roundRect">
            <a:avLst>
              <a:gd name="adj" fmla="val 7555"/>
            </a:avLst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892808"/>
            <a:ext cx="23774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ontserrat"/>
              </a:rPr>
              <a:t>&lt; 1 min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651760"/>
            <a:ext cx="23317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F8EEF1"/>
                </a:solidFill>
                <a:latin typeface="Montserrat"/>
              </a:rPr>
              <a:t>del primer mensaje a una disputa verificada, en vez de ~15 días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20439" y="1691640"/>
            <a:ext cx="2743200" cy="2057400"/>
          </a:xfrm>
          <a:prstGeom prst="roundRect">
            <a:avLst>
              <a:gd name="adj" fmla="val 7555"/>
            </a:avLst>
          </a:prstGeom>
          <a:solidFill>
            <a:srgbClr val="FFFFFF"/>
          </a:solidFill>
          <a:ln w="12700">
            <a:solidFill>
              <a:srgbClr val="EFE3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49039" y="1892808"/>
            <a:ext cx="23774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7A1F3D"/>
                </a:solidFill>
                <a:latin typeface="Montserrat"/>
              </a:rPr>
              <a:t>82%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39" y="2651760"/>
            <a:ext cx="23317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6E5A62"/>
                </a:solidFill>
                <a:latin typeface="Montserrat"/>
              </a:rPr>
              <a:t>de las disputas simples resueltas solas y bien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931920"/>
            <a:ext cx="2743200" cy="2057400"/>
          </a:xfrm>
          <a:prstGeom prst="roundRect">
            <a:avLst>
              <a:gd name="adj" fmla="val 7555"/>
            </a:avLst>
          </a:prstGeom>
          <a:solidFill>
            <a:srgbClr val="FFFFFF"/>
          </a:solidFill>
          <a:ln w="12700">
            <a:solidFill>
              <a:srgbClr val="EFE3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133088"/>
            <a:ext cx="23774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7A1F3D"/>
                </a:solidFill>
                <a:latin typeface="Montserrat"/>
              </a:rPr>
              <a:t>43% menos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892040"/>
            <a:ext cx="23317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6E5A62"/>
                </a:solidFill>
                <a:latin typeface="Montserrat"/>
              </a:rPr>
              <a:t>casos al especialista que un proceso solo con reglas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520439" y="3931920"/>
            <a:ext cx="2743200" cy="2057400"/>
          </a:xfrm>
          <a:prstGeom prst="roundRect">
            <a:avLst>
              <a:gd name="adj" fmla="val 7555"/>
            </a:avLst>
          </a:prstGeom>
          <a:solidFill>
            <a:srgbClr val="FFFFFF"/>
          </a:solidFill>
          <a:ln w="12700">
            <a:solidFill>
              <a:srgbClr val="EFE3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49039" y="4133088"/>
            <a:ext cx="23774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7A1F3D"/>
                </a:solidFill>
                <a:latin typeface="Montserrat"/>
              </a:rPr>
              <a:t>0 / 120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49039" y="4892040"/>
            <a:ext cx="23317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6E5A62"/>
                </a:solidFill>
                <a:latin typeface="Montserrat"/>
              </a:rPr>
              <a:t>resultados inseguros: si duda, pregunta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37960" y="1691640"/>
            <a:ext cx="5029200" cy="4297680"/>
          </a:xfrm>
          <a:prstGeom prst="roundRect">
            <a:avLst>
              <a:gd name="adj" fmla="val 3617"/>
            </a:avLst>
          </a:prstGeom>
          <a:solidFill>
            <a:srgbClr val="FFFFFF"/>
          </a:solidFill>
          <a:ln w="12700">
            <a:solidFill>
              <a:srgbClr val="EFE3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66560" y="182880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3161B"/>
                </a:solidFill>
                <a:latin typeface="Montserrat"/>
              </a:rPr>
              <a:t>Aciertos en 120 casos que nunca había visto</a:t>
            </a:r>
          </a:p>
        </p:txBody>
      </p:sp>
      <p:graphicFrame>
        <p:nvGraphicFramePr>
          <p:cNvPr id="23" name="Chart 22"/>
          <p:cNvGraphicFramePr>
            <a:graphicFrameLocks noGrp="1"/>
          </p:cNvGraphicFramePr>
          <p:nvPr/>
        </p:nvGraphicFramePr>
        <p:xfrm>
          <a:off x="6675120" y="2286000"/>
          <a:ext cx="4754880" cy="36118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640080" y="6080760"/>
            <a:ext cx="10927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6E5A62"/>
                </a:solidFill>
                <a:latin typeface="Montserrat"/>
              </a:rPr>
              <a:t>El especialista recibe casos priorizados con hechos verificados y evidencia: decide, no vuelve a preguntar.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nicebank-mark-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5328" y="347472"/>
            <a:ext cx="384048" cy="384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064240" y="393192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7A1F3D"/>
                </a:solidFill>
                <a:latin typeface="Montserrat"/>
              </a:rPr>
              <a:t>NiceBank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7A1F3D"/>
                </a:solidFill>
                <a:latin typeface="Montserrat"/>
              </a:rPr>
              <a:t>CÓMO ESTÁ HECHO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85800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23161B"/>
                </a:solidFill>
                <a:latin typeface="Montserrat"/>
              </a:rPr>
              <a:t>Cómo está hecho, y por qué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E5A62"/>
                </a:solidFill>
                <a:latin typeface="Montserrat"/>
              </a:rPr>
              <a:t>Factored AI &amp; Data Hackathon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1672" y="641908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7A1F3D"/>
                </a:solidFill>
                <a:latin typeface="Montserrat"/>
              </a:rPr>
              <a:t>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1993392" cy="1417320"/>
          </a:xfrm>
          <a:prstGeom prst="roundRect">
            <a:avLst>
              <a:gd name="adj" fmla="val 10967"/>
            </a:avLst>
          </a:prstGeom>
          <a:solidFill>
            <a:srgbClr val="FFFFFF"/>
          </a:solidFill>
          <a:ln w="12700">
            <a:solidFill>
              <a:srgbClr val="EFE3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1" y="1810512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3161B"/>
                </a:solidFill>
                <a:latin typeface="Montserrat"/>
              </a:rPr>
              <a:t>Mensaje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1" y="2212848"/>
            <a:ext cx="16916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E5A62"/>
                </a:solidFill>
                <a:latin typeface="Montserrat"/>
              </a:rPr>
              <a:t>En español o portugués, como lo diría el cliente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651760" y="2286000"/>
            <a:ext cx="182880" cy="237744"/>
          </a:xfrm>
          <a:prstGeom prst="rightArrow">
            <a:avLst/>
          </a:prstGeom>
          <a:solidFill>
            <a:srgbClr val="E8B4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862072" y="1691640"/>
            <a:ext cx="1993392" cy="1417320"/>
          </a:xfrm>
          <a:prstGeom prst="roundRect">
            <a:avLst>
              <a:gd name="adj" fmla="val 10967"/>
            </a:avLst>
          </a:prstGeom>
          <a:solidFill>
            <a:srgbClr val="FFFFFF"/>
          </a:solidFill>
          <a:ln w="12700">
            <a:solidFill>
              <a:srgbClr val="EFE3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26664" y="1810512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3161B"/>
                </a:solidFill>
                <a:latin typeface="Montserrat"/>
              </a:rPr>
              <a:t>Proteger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26664" y="2212848"/>
            <a:ext cx="16916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E5A62"/>
                </a:solidFill>
                <a:latin typeface="Montserrat"/>
              </a:rPr>
              <a:t>Oculta datos personales y rechaza abusos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4873752" y="2286000"/>
            <a:ext cx="182880" cy="237744"/>
          </a:xfrm>
          <a:prstGeom prst="rightArrow">
            <a:avLst/>
          </a:prstGeom>
          <a:solidFill>
            <a:srgbClr val="E8B4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084064" y="1691640"/>
            <a:ext cx="1993392" cy="1417320"/>
          </a:xfrm>
          <a:prstGeom prst="roundRect">
            <a:avLst>
              <a:gd name="adj" fmla="val 10967"/>
            </a:avLst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48656" y="1810512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ontserrat"/>
              </a:rPr>
              <a:t>Entender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48656" y="2212848"/>
            <a:ext cx="16916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F8EEF1"/>
                </a:solidFill>
                <a:latin typeface="Montserrat"/>
              </a:rPr>
              <a:t>Clasificador + LLM: actúa solo si coinciden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7095744" y="2286000"/>
            <a:ext cx="182880" cy="237744"/>
          </a:xfrm>
          <a:prstGeom prst="rightArrow">
            <a:avLst/>
          </a:prstGeom>
          <a:solidFill>
            <a:srgbClr val="E8B4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306056" y="1691640"/>
            <a:ext cx="1993392" cy="1417320"/>
          </a:xfrm>
          <a:prstGeom prst="roundRect">
            <a:avLst>
              <a:gd name="adj" fmla="val 10967"/>
            </a:avLst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70648" y="1810512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ontserrat"/>
              </a:rPr>
              <a:t>Decidir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70648" y="2212848"/>
            <a:ext cx="16916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F8EEF1"/>
                </a:solidFill>
                <a:latin typeface="Montserrat"/>
              </a:rPr>
              <a:t>Política escrita: plazos y límites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9317736" y="2286000"/>
            <a:ext cx="182880" cy="237744"/>
          </a:xfrm>
          <a:prstGeom prst="rightArrow">
            <a:avLst/>
          </a:prstGeom>
          <a:solidFill>
            <a:srgbClr val="E8B4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528048" y="1691640"/>
            <a:ext cx="1993392" cy="1417320"/>
          </a:xfrm>
          <a:prstGeom prst="roundRect">
            <a:avLst>
              <a:gd name="adj" fmla="val 10967"/>
            </a:avLst>
          </a:prstGeom>
          <a:solidFill>
            <a:srgbClr val="FFFFFF"/>
          </a:solidFill>
          <a:ln w="12700">
            <a:solidFill>
              <a:srgbClr val="EFE3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92640" y="1810512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3161B"/>
                </a:solidFill>
                <a:latin typeface="Montserrat"/>
              </a:rPr>
              <a:t>Actuar o derivar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92640" y="2212848"/>
            <a:ext cx="16916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E5A62"/>
                </a:solidFill>
                <a:latin typeface="Montserrat"/>
              </a:rPr>
              <a:t>El cliente confirma; o un especialista recibe el caso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3383280"/>
            <a:ext cx="3520440" cy="1261872"/>
          </a:xfrm>
          <a:prstGeom prst="roundRect">
            <a:avLst>
              <a:gd name="adj" fmla="val 12318"/>
            </a:avLst>
          </a:prstGeom>
          <a:solidFill>
            <a:srgbClr val="FFFFFF"/>
          </a:solidFill>
          <a:ln w="12700">
            <a:solidFill>
              <a:srgbClr val="EFE3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86384" y="3657600"/>
            <a:ext cx="64008" cy="713232"/>
          </a:xfrm>
          <a:prstGeom prst="rect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24127" y="3520440"/>
            <a:ext cx="2971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7A1F3D"/>
                </a:solidFill>
                <a:latin typeface="Montserrat"/>
              </a:rPr>
              <a:t>Autonomía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4127" y="3886200"/>
            <a:ext cx="2971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23161B"/>
                </a:solidFill>
                <a:latin typeface="Montserrat"/>
              </a:rPr>
              <a:t>Actúa solo si el cliente confirma. Nunca mueve dinero. Los montos altos van a una persona.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343400" y="3383280"/>
            <a:ext cx="3520440" cy="1261872"/>
          </a:xfrm>
          <a:prstGeom prst="roundRect">
            <a:avLst>
              <a:gd name="adj" fmla="val 12318"/>
            </a:avLst>
          </a:prstGeom>
          <a:solidFill>
            <a:srgbClr val="FFFFFF"/>
          </a:solidFill>
          <a:ln w="12700">
            <a:solidFill>
              <a:srgbClr val="EFE3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489704" y="3657600"/>
            <a:ext cx="64008" cy="713232"/>
          </a:xfrm>
          <a:prstGeom prst="rect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727448" y="3520440"/>
            <a:ext cx="2971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7A1F3D"/>
                </a:solidFill>
                <a:latin typeface="Montserrat"/>
              </a:rPr>
              <a:t>Precisión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27448" y="3886200"/>
            <a:ext cx="2971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23161B"/>
                </a:solidFill>
                <a:latin typeface="Montserrat"/>
              </a:rPr>
              <a:t>Dos modelos deben coincidir en el tipo: 86,7% de aciertos en casos nuevos, 0 inseguros.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046719" y="3383280"/>
            <a:ext cx="3520440" cy="1261872"/>
          </a:xfrm>
          <a:prstGeom prst="roundRect">
            <a:avLst>
              <a:gd name="adj" fmla="val 12318"/>
            </a:avLst>
          </a:prstGeom>
          <a:solidFill>
            <a:srgbClr val="FFFFFF"/>
          </a:solidFill>
          <a:ln w="12700">
            <a:solidFill>
              <a:srgbClr val="EFE3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193023" y="3657600"/>
            <a:ext cx="64008" cy="713232"/>
          </a:xfrm>
          <a:prstGeom prst="rect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430767" y="3520440"/>
            <a:ext cx="2971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7A1F3D"/>
                </a:solidFill>
                <a:latin typeface="Montserrat"/>
              </a:rPr>
              <a:t>Velocidad y costo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30767" y="3886200"/>
            <a:ext cx="2971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23161B"/>
                </a:solidFill>
                <a:latin typeface="Montserrat"/>
              </a:rPr>
              <a:t>Cerca de 1 s por respuesta; el LLM trabaja en paralelo. US$0,0001 por conversación.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0080" y="4800600"/>
            <a:ext cx="5394960" cy="1261872"/>
          </a:xfrm>
          <a:prstGeom prst="roundRect">
            <a:avLst>
              <a:gd name="adj" fmla="val 12318"/>
            </a:avLst>
          </a:prstGeom>
          <a:solidFill>
            <a:srgbClr val="FFFFFF"/>
          </a:solidFill>
          <a:ln w="12700">
            <a:solidFill>
              <a:srgbClr val="EFE3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86384" y="5074920"/>
            <a:ext cx="64008" cy="713232"/>
          </a:xfrm>
          <a:prstGeom prst="rect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24127" y="493776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7A1F3D"/>
                </a:solidFill>
                <a:latin typeface="Montserrat"/>
              </a:rPr>
              <a:t>Supervisión humana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24127" y="5303520"/>
            <a:ext cx="48463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23161B"/>
                </a:solidFill>
                <a:latin typeface="Montserrat"/>
              </a:rPr>
              <a:t>Consola del especialista con auditoría completa; la identidad solo se ve al tomar el caso.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172200" y="4800600"/>
            <a:ext cx="5394960" cy="1261872"/>
          </a:xfrm>
          <a:prstGeom prst="roundRect">
            <a:avLst>
              <a:gd name="adj" fmla="val 12318"/>
            </a:avLst>
          </a:prstGeom>
          <a:solidFill>
            <a:srgbClr val="FFFFFF"/>
          </a:solidFill>
          <a:ln w="12700">
            <a:solidFill>
              <a:srgbClr val="EFE3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318504" y="5074920"/>
            <a:ext cx="64008" cy="713232"/>
          </a:xfrm>
          <a:prstGeom prst="rect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556248" y="493776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7A1F3D"/>
                </a:solidFill>
                <a:latin typeface="Montserrat"/>
              </a:rPr>
              <a:t>Privacidad y equidad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56248" y="5303520"/>
            <a:ext cx="48463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23161B"/>
                </a:solidFill>
                <a:latin typeface="Montserrat"/>
              </a:rPr>
              <a:t>El LLM solo ve texto enmascarado. Ninguna decisión usa país ni segmento.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nicebank-mark-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5328" y="347472"/>
            <a:ext cx="384048" cy="384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064240" y="393192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7A1F3D"/>
                </a:solidFill>
                <a:latin typeface="Montserrat"/>
              </a:rPr>
              <a:t>NiceBank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7A1F3D"/>
                </a:solidFill>
                <a:latin typeface="Montserrat"/>
              </a:rPr>
              <a:t>PRÓXIMO PASO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85800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23161B"/>
                </a:solidFill>
                <a:latin typeface="Montserrat"/>
              </a:rPr>
              <a:t>Listo para un piloto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E5A62"/>
                </a:solidFill>
                <a:latin typeface="Montserrat"/>
              </a:rPr>
              <a:t>Factored AI &amp; Data Hackathon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1672" y="641908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7A1F3D"/>
                </a:solidFill>
                <a:latin typeface="Montserrat"/>
              </a:rPr>
              <a:t>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83080"/>
            <a:ext cx="3520440" cy="2331720"/>
          </a:xfrm>
          <a:prstGeom prst="roundRect">
            <a:avLst>
              <a:gd name="adj" fmla="val 6666"/>
            </a:avLst>
          </a:prstGeom>
          <a:solidFill>
            <a:srgbClr val="FFFFFF"/>
          </a:solidFill>
          <a:ln w="12700">
            <a:solidFill>
              <a:srgbClr val="EFE3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14400" y="2057400"/>
            <a:ext cx="640080" cy="640080"/>
          </a:xfrm>
          <a:prstGeom prst="ellipse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05740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2176272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23161B"/>
                </a:solidFill>
                <a:latin typeface="Montserrat"/>
              </a:rPr>
              <a:t>Modo sombra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926080"/>
            <a:ext cx="301752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6E5A62"/>
                </a:solidFill>
                <a:latin typeface="Montserrat"/>
              </a:rPr>
              <a:t>El asistente lee mensajes reales con consentimiento y propone; los especialistas comparan. Sin impacto en clientes.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187952" y="2990088"/>
            <a:ext cx="128016" cy="274320"/>
          </a:xfrm>
          <a:prstGeom prst="rightArrow">
            <a:avLst/>
          </a:prstGeom>
          <a:solidFill>
            <a:srgbClr val="E8B4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343400" y="1783080"/>
            <a:ext cx="3520440" cy="2331720"/>
          </a:xfrm>
          <a:prstGeom prst="roundRect">
            <a:avLst>
              <a:gd name="adj" fmla="val 6666"/>
            </a:avLst>
          </a:prstGeom>
          <a:solidFill>
            <a:srgbClr val="FFFFFF"/>
          </a:solidFill>
          <a:ln w="12700">
            <a:solidFill>
              <a:srgbClr val="EFE3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617720" y="2057400"/>
            <a:ext cx="640080" cy="640080"/>
          </a:xfrm>
          <a:prstGeom prst="ellipse">
            <a:avLst/>
          </a:prstGeom>
          <a:solidFill>
            <a:srgbClr val="4A1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205740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Montserrat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40680" y="2176272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23161B"/>
                </a:solidFill>
                <a:latin typeface="Montserrat"/>
              </a:rPr>
              <a:t>Piloto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2926080"/>
            <a:ext cx="301752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6E5A62"/>
                </a:solidFill>
                <a:latin typeface="Montserrat"/>
              </a:rPr>
              <a:t>Un país y una parte de los clientes, con reportes diarios de calidad y seguridad.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7891271" y="2990088"/>
            <a:ext cx="128016" cy="274320"/>
          </a:xfrm>
          <a:prstGeom prst="rightArrow">
            <a:avLst/>
          </a:prstGeom>
          <a:solidFill>
            <a:srgbClr val="E8B4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046719" y="1783080"/>
            <a:ext cx="3520440" cy="2331720"/>
          </a:xfrm>
          <a:prstGeom prst="roundRect">
            <a:avLst>
              <a:gd name="adj" fmla="val 6666"/>
            </a:avLst>
          </a:prstGeom>
          <a:solidFill>
            <a:srgbClr val="FFFFFF"/>
          </a:solidFill>
          <a:ln w="12700">
            <a:solidFill>
              <a:srgbClr val="EFE3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321040" y="2057400"/>
            <a:ext cx="640080" cy="640080"/>
          </a:xfrm>
          <a:prstGeom prst="ellipse">
            <a:avLst/>
          </a:prstGeom>
          <a:solidFill>
            <a:srgbClr val="2E0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21040" y="205740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Montserrat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3999" y="2176272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23161B"/>
                </a:solidFill>
                <a:latin typeface="Montserrat"/>
              </a:rPr>
              <a:t>Escalar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2926080"/>
            <a:ext cx="301752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6E5A62"/>
                </a:solidFill>
                <a:latin typeface="Montserrat"/>
              </a:rPr>
              <a:t>Más países y canales como WhatsApp, con las mismas reglas y auditoría.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343400"/>
            <a:ext cx="10927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E5A62"/>
                </a:solidFill>
                <a:latin typeface="Montserrat"/>
              </a:rPr>
              <a:t>Construido con los datos sintéticos del organizador; el piloto es donde el lenguaje real de los clientes confirma estos resultados.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4983480"/>
            <a:ext cx="10927080" cy="1005840"/>
          </a:xfrm>
          <a:prstGeom prst="roundRect">
            <a:avLst>
              <a:gd name="adj" fmla="val 15454"/>
            </a:avLst>
          </a:prstGeom>
          <a:solidFill>
            <a:srgbClr val="2E0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nicebank-mark-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5212080"/>
            <a:ext cx="548640" cy="54864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1691640" y="4983480"/>
            <a:ext cx="960120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Montserrat"/>
              </a:rPr>
              <a:t>Si no está seguro, pregunta. Si hace falta una persona, la persona recibe todo.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